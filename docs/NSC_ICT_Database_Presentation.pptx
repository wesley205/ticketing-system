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3" Type="http://schemas.openxmlformats.org/officeDocument/2006/relationships/slide" Target="slide14.xml"/><Relationship Id="rId4" Type="http://schemas.openxmlformats.org/officeDocument/2006/relationships/slide" Target="slide15.xml"/><Relationship Id="rId5" Type="http://schemas.openxmlformats.org/officeDocument/2006/relationships/slide" Target="slide10.xml"/><Relationship Id="rId1" Type="http://schemas.openxmlformats.org/officeDocument/2006/relationships/image" Target="../media/image-1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3" Type="http://schemas.openxmlformats.org/officeDocument/2006/relationships/slide" Target="slide14.xml"/><Relationship Id="rId4" Type="http://schemas.openxmlformats.org/officeDocument/2006/relationships/slide" Target="slide15.xml"/><Relationship Id="rId5" Type="http://schemas.openxmlformats.org/officeDocument/2006/relationships/slide" Target="slide10.xml"/><Relationship Id="rId6" Type="http://schemas.openxmlformats.org/officeDocument/2006/relationships/slide" Target="slide13.xml"/><Relationship Id="rId1" Type="http://schemas.openxmlformats.org/officeDocument/2006/relationships/image" Target="../media/image-12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3" Type="http://schemas.openxmlformats.org/officeDocument/2006/relationships/slide" Target="slide12.xml"/><Relationship Id="rId4" Type="http://schemas.openxmlformats.org/officeDocument/2006/relationships/slide" Target="slide15.xml"/><Relationship Id="rId5" Type="http://schemas.openxmlformats.org/officeDocument/2006/relationships/slide" Target="slide10.xml"/><Relationship Id="rId1" Type="http://schemas.openxmlformats.org/officeDocument/2006/relationships/image" Target="../media/image-1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3" Type="http://schemas.openxmlformats.org/officeDocument/2006/relationships/slide" Target="slide12.xml"/><Relationship Id="rId4" Type="http://schemas.openxmlformats.org/officeDocument/2006/relationships/slide" Target="slide14.xml"/><Relationship Id="rId5" Type="http://schemas.openxmlformats.org/officeDocument/2006/relationships/slide" Target="slide10.xml"/><Relationship Id="rId1" Type="http://schemas.openxmlformats.org/officeDocument/2006/relationships/image" Target="../media/image-1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image" Target="../media/image-16-2.png"/><Relationship Id="rId6" Type="http://schemas.openxmlformats.org/officeDocument/2006/relationships/image" Target="../media/image-16-2.png"/><Relationship Id="rId7" Type="http://schemas.openxmlformats.org/officeDocument/2006/relationships/image" Target="../media/image-16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7315200" cy="7315200"/>
          </a:xfrm>
          <a:prstGeom prst="ellipse">
            <a:avLst/>
          </a:prstGeom>
          <a:solidFill>
            <a:srgbClr val="17A594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F5A623">
              <a:alpha val="12000"/>
            </a:srgbClr>
          </a:solidFill>
          <a:ln/>
        </p:spPr>
      </p:sp>
      <p:pic>
        <p:nvPicPr>
          <p:cNvPr id="4" name="Image 0" descr="/home/claude/deck_assets/nsc_logo_ou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502920"/>
            <a:ext cx="1417320" cy="1417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960120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STATUS: OPERATIONAL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 ICT Service Desk &amp;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 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63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Design, Connectivity &amp; System Architecture Report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6928" y="5623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CA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" y="5870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10128" y="5623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CA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MATRIC NUMBER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10128" y="5870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[Matric Number]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53328" y="5623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CA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53328" y="5870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[Department]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796528" y="5623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7CA8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796528" y="58704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[Institution]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academic project — fictional data only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nsc_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5895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We’ll Cover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10789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tour of the system, its database, and how the pieces connect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0A7D3E"/>
          </a:solidFill>
          <a:ln/>
        </p:spPr>
      </p:sp>
      <p:pic>
        <p:nvPicPr>
          <p:cNvPr id="6" name="Image 1" descr="/home/claude/deck_assets/icon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1964863"/>
            <a:ext cx="294803" cy="2948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325880" y="21671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application does and who uses it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446520" y="1828800"/>
            <a:ext cx="566928" cy="566928"/>
          </a:xfrm>
          <a:prstGeom prst="ellipse">
            <a:avLst/>
          </a:prstGeom>
          <a:solidFill>
            <a:srgbClr val="0A7D3E"/>
          </a:solidFill>
          <a:ln/>
        </p:spPr>
      </p:sp>
      <p:pic>
        <p:nvPicPr>
          <p:cNvPr id="10" name="Image 2" descr="/home/claude/deck_assets/icon_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583" y="196486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237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7223760" y="21671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frameworks and libraries behind the system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0A7D3E"/>
          </a:solidFill>
          <a:ln/>
        </p:spPr>
      </p:sp>
      <p:pic>
        <p:nvPicPr>
          <p:cNvPr id="14" name="Image 3" descr="/home/claude/deck_assets/icon_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3382183"/>
            <a:ext cx="294803" cy="29480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Connectivity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325880" y="35844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frontend, backend, and database talk to each other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446520" y="3246120"/>
            <a:ext cx="566928" cy="566928"/>
          </a:xfrm>
          <a:prstGeom prst="ellipse">
            <a:avLst/>
          </a:prstGeom>
          <a:solidFill>
            <a:srgbClr val="0A7D3E"/>
          </a:solidFill>
          <a:ln/>
        </p:spPr>
      </p:sp>
      <p:pic>
        <p:nvPicPr>
          <p:cNvPr id="18" name="Image 4" descr="/home/claude/deck_assets/icon_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583" y="3382183"/>
            <a:ext cx="294803" cy="29480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2376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ERD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7223760" y="35844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relationships, and normalization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rgbClr val="0A7D3E"/>
          </a:solidFill>
          <a:ln/>
        </p:spPr>
      </p:sp>
      <p:pic>
        <p:nvPicPr>
          <p:cNvPr id="22" name="Image 5" descr="/home/claude/deck_assets/icon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3" y="4799503"/>
            <a:ext cx="294803" cy="29480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2588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1325880" y="5001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and accounts are protected</a:t>
            </a:r>
            <a:endParaRPr lang="en-US" sz="1200" dirty="0"/>
          </a:p>
        </p:txBody>
      </p:sp>
      <p:sp>
        <p:nvSpPr>
          <p:cNvPr id="25" name="Shape 17"/>
          <p:cNvSpPr/>
          <p:nvPr/>
        </p:nvSpPr>
        <p:spPr>
          <a:xfrm>
            <a:off x="6446520" y="4663440"/>
            <a:ext cx="566928" cy="566928"/>
          </a:xfrm>
          <a:prstGeom prst="ellipse">
            <a:avLst/>
          </a:prstGeom>
          <a:solidFill>
            <a:srgbClr val="0A7D3E"/>
          </a:solidFill>
          <a:ln/>
        </p:spPr>
      </p:sp>
      <p:pic>
        <p:nvPicPr>
          <p:cNvPr id="26" name="Image 6" descr="/home/claude/deck_assets/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2583" y="4799503"/>
            <a:ext cx="294803" cy="29480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22376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Verification</a:t>
            </a: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7223760" y="5001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was proven to work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nsc_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5895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14300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prototype web application </a:t>
            </a:r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2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tracks ICT hardware assets and manages staff support requests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ICT department in a shipping-related organization.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7889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dashboard figure is calculated live from PostgreSQL — nothing is hard-coded.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98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ROLE TIERS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4069080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F7F6F2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0690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4581144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F7F6F2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5811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Officer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5093208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F7F6F2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509320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560527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F7F6F2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56052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/ User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349240" y="118872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0A7D3E"/>
          </a:solidFill>
          <a:ln/>
        </p:spPr>
      </p:sp>
      <p:sp>
        <p:nvSpPr>
          <p:cNvPr id="16" name="Shape 13"/>
          <p:cNvSpPr/>
          <p:nvPr/>
        </p:nvSpPr>
        <p:spPr>
          <a:xfrm>
            <a:off x="5577840" y="1417320"/>
            <a:ext cx="566928" cy="566928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17" name="Image 1" descr="/home/claude/deck_assets/icon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903" y="1553383"/>
            <a:ext cx="294803" cy="29480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50408" y="20848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595360" y="118872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0A7D3E"/>
          </a:solidFill>
          <a:ln/>
        </p:spPr>
      </p:sp>
      <p:sp>
        <p:nvSpPr>
          <p:cNvPr id="20" name="Shape 16"/>
          <p:cNvSpPr/>
          <p:nvPr/>
        </p:nvSpPr>
        <p:spPr>
          <a:xfrm>
            <a:off x="8823960" y="1417320"/>
            <a:ext cx="566928" cy="566928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21" name="Image 2" descr="/home/claude/deck_assets/icon_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023" y="1553383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796528" y="20848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5349240" y="274320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0A7D3E"/>
          </a:solidFill>
          <a:ln/>
        </p:spPr>
      </p:sp>
      <p:sp>
        <p:nvSpPr>
          <p:cNvPr id="24" name="Shape 19"/>
          <p:cNvSpPr/>
          <p:nvPr/>
        </p:nvSpPr>
        <p:spPr>
          <a:xfrm>
            <a:off x="5577840" y="2971800"/>
            <a:ext cx="566928" cy="566928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25" name="Image 3" descr="/home/claude/deck_assets/icon_to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903" y="310786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50408" y="36393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Records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8595360" y="274320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0A7D3E"/>
          </a:solidFill>
          <a:ln/>
        </p:spPr>
      </p:sp>
      <p:sp>
        <p:nvSpPr>
          <p:cNvPr id="28" name="Shape 22"/>
          <p:cNvSpPr/>
          <p:nvPr/>
        </p:nvSpPr>
        <p:spPr>
          <a:xfrm>
            <a:off x="8823960" y="2971800"/>
            <a:ext cx="566928" cy="566928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29" name="Image 4" descr="/home/claude/deck_assets/icon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0023" y="3107863"/>
            <a:ext cx="294803" cy="29480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796528" y="363931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Management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5349240" y="429768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0A7D3E"/>
          </a:solidFill>
          <a:ln/>
        </p:spPr>
      </p:sp>
      <p:sp>
        <p:nvSpPr>
          <p:cNvPr id="32" name="Shape 25"/>
          <p:cNvSpPr/>
          <p:nvPr/>
        </p:nvSpPr>
        <p:spPr>
          <a:xfrm>
            <a:off x="5577840" y="4526280"/>
            <a:ext cx="566928" cy="566928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33" name="Image 5" descr="/home/claude/deck_assets/icon_ho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3903" y="4662343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550408" y="51937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8595360" y="429768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0A7D3E"/>
          </a:solidFill>
          <a:ln/>
        </p:spPr>
      </p:sp>
      <p:sp>
        <p:nvSpPr>
          <p:cNvPr id="36" name="Shape 28"/>
          <p:cNvSpPr/>
          <p:nvPr/>
        </p:nvSpPr>
        <p:spPr>
          <a:xfrm>
            <a:off x="8823960" y="4526280"/>
            <a:ext cx="566928" cy="566928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37" name="Image 6" descr="/home/claude/deck_assets/icon_bar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0023" y="4662343"/>
            <a:ext cx="294803" cy="294803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96528" y="519379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&amp; Reports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nsc_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5895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simple stack — no build tools required to run the frontend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7F6F2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947672"/>
            <a:ext cx="621792" cy="621792"/>
          </a:xfrm>
          <a:prstGeom prst="ellipse">
            <a:avLst/>
          </a:prstGeom>
          <a:solidFill>
            <a:srgbClr val="0A7D3E"/>
          </a:solidFill>
          <a:ln/>
        </p:spPr>
      </p:sp>
      <p:pic>
        <p:nvPicPr>
          <p:cNvPr id="7" name="Image 1" descr="/home/claude/deck_assets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90" y="2096902"/>
            <a:ext cx="323332" cy="3233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22960" y="267919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vanilla JavaScript — plus Chart.js for the reports dashboard. No React, no build step.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17920" y="169164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7F6F2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92240" y="1947672"/>
            <a:ext cx="621792" cy="621792"/>
          </a:xfrm>
          <a:prstGeom prst="ellipse">
            <a:avLst/>
          </a:prstGeom>
          <a:solidFill>
            <a:srgbClr val="0A7D3E"/>
          </a:solidFill>
          <a:ln/>
        </p:spPr>
      </p:sp>
      <p:pic>
        <p:nvPicPr>
          <p:cNvPr id="12" name="Image 2" descr="/home/claude/deck_assets/icon_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470" y="2096902"/>
            <a:ext cx="323332" cy="3233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9480" y="1965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492240" y="267919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with Express, structured as a REST API — one route module per feature area.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7033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7F6F2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3959352"/>
            <a:ext cx="621792" cy="621792"/>
          </a:xfrm>
          <a:prstGeom prst="ellipse">
            <a:avLst/>
          </a:prstGeom>
          <a:solidFill>
            <a:srgbClr val="0A7D3E"/>
          </a:solidFill>
          <a:ln/>
        </p:spPr>
      </p:sp>
      <p:pic>
        <p:nvPicPr>
          <p:cNvPr id="17" name="Image 3" descr="/home/claude/deck_assets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190" y="4108582"/>
            <a:ext cx="323332" cy="3233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3977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822960" y="469087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a normalized relational schema with constraints enforced at the database layer.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17920" y="37033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7F6F2"/>
          </a:solidFill>
          <a:ln w="12700">
            <a:solidFill>
              <a:srgbClr val="E4E0D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92240" y="3959352"/>
            <a:ext cx="621792" cy="621792"/>
          </a:xfrm>
          <a:prstGeom prst="ellipse">
            <a:avLst/>
          </a:prstGeom>
          <a:solidFill>
            <a:srgbClr val="0A7D3E"/>
          </a:solidFill>
          <a:ln/>
        </p:spPr>
      </p:sp>
      <p:pic>
        <p:nvPicPr>
          <p:cNvPr id="22" name="Image 4" descr="/home/claude/deck_assets/icon_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470" y="4108582"/>
            <a:ext cx="323332" cy="3233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3977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6492240" y="4690872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 for sessions, bcrypt for password hashing, role-based middleware on every route.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nsc_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5895" y="320040"/>
            <a:ext cx="365760" cy="365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01200" y="5029200"/>
            <a:ext cx="5486400" cy="5486400"/>
          </a:xfrm>
          <a:prstGeom prst="ellipse">
            <a:avLst/>
          </a:prstGeom>
          <a:solidFill>
            <a:srgbClr val="17A594">
              <a:alpha val="1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Connect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three-tier architecture — the frontend never touches PostgreSQL directly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" y="2606040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14904A"/>
          </a:solidFill>
          <a:ln w="15875">
            <a:solidFill>
              <a:srgbClr val="17A59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83080" y="2807208"/>
            <a:ext cx="640080" cy="64008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8" name="Image 1" descr="/home/claude/deck_assets/icon_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699" y="2960827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3813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(HTML/CSS/JS)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663440" y="2606040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14904A"/>
          </a:solidFill>
          <a:ln w="15875">
            <a:solidFill>
              <a:srgbClr val="17A59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760720" y="2807208"/>
            <a:ext cx="640080" cy="64008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13" name="Image 2" descr="/home/claude/deck_assets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39" y="2960827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800600" y="3813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routes, auth, validation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8641080" y="2606040"/>
            <a:ext cx="2834640" cy="1554480"/>
          </a:xfrm>
          <a:prstGeom prst="roundRect">
            <a:avLst>
              <a:gd name="adj" fmla="val 7059"/>
            </a:avLst>
          </a:prstGeom>
          <a:solidFill>
            <a:srgbClr val="14904A"/>
          </a:solidFill>
          <a:ln w="15875">
            <a:solidFill>
              <a:srgbClr val="17A59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738360" y="2807208"/>
            <a:ext cx="640080" cy="64008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18" name="Image 3" descr="/home/claude/deck_assets/icon_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1979" y="2960827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41080" y="3520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778240" y="3813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relational database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566160" y="3264408"/>
            <a:ext cx="1051560" cy="237744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2" name="Shape 16"/>
          <p:cNvSpPr/>
          <p:nvPr/>
        </p:nvSpPr>
        <p:spPr>
          <a:xfrm>
            <a:off x="7543800" y="3264408"/>
            <a:ext cx="1051560" cy="237744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3" name="Text 17"/>
          <p:cNvSpPr/>
          <p:nvPr/>
        </p:nvSpPr>
        <p:spPr>
          <a:xfrm>
            <a:off x="82296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fetch() + JWT bearer token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800600" y="4297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parameterized SQL via node-postgres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85800" y="4892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also logs an entry to the audit_logs table before the response is sent.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85800" y="55778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0A7D3E"/>
          </a:solidFill>
          <a:ln w="12700">
            <a:solidFill>
              <a:srgbClr val="1F5C3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" y="5650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822960" y="5925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429000" y="55778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0A7D3E"/>
          </a:solidFill>
          <a:ln w="12700">
            <a:solidFill>
              <a:srgbClr val="1F5C3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566160" y="5650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Officer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3566160" y="5925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assets &amp; requests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6172200" y="55778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0A7D3E"/>
          </a:solidFill>
          <a:ln w="12700">
            <a:solidFill>
              <a:srgbClr val="1F5C3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309360" y="5650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309360" y="5925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assigned requests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8915400" y="557784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0A7D3E"/>
          </a:solidFill>
          <a:ln w="12700">
            <a:solidFill>
              <a:srgbClr val="1F5C3C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9052560" y="5650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/ User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9052560" y="59253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requests, view assets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nsc_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5895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Connectivity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config/db.js — one shared connection pool, reused by every route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577840" cy="4434840"/>
          </a:xfrm>
          <a:prstGeom prst="roundRect">
            <a:avLst>
              <a:gd name="adj" fmla="val 2062"/>
            </a:avLst>
          </a:prstGeom>
          <a:solidFill>
            <a:srgbClr val="063D1F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78308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Pool } = require('pg');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pool = new Pool({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host: process.env.PGHOST,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port: process.env.PGPORT,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database: process.env.PGDATABASE,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user: process.env.PGUSER,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password: process.env.PGPASSWORD,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pool;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 route file: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pool.query(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'SELECT * FROM assets WHERE status = $1',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[status]   // parameterized — never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  // string-concatenated SQL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92240" y="1691640"/>
            <a:ext cx="384048" cy="384048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8" name="Image 1" descr="/home/claude/deck_asset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51" y="1778051"/>
            <a:ext cx="211226" cy="21122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040880" y="19659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Pool instance is shared across every request — no per-query connect/disconnect overhead.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92240" y="2752344"/>
            <a:ext cx="384048" cy="384048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12" name="Image 2" descr="/home/claude/deck_asset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51" y="2838755"/>
            <a:ext cx="211226" cy="211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40880" y="2724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via environment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040880" y="302666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database, user, and password are read from .env — never hard-coded, never committed.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92240" y="3813048"/>
            <a:ext cx="384048" cy="384048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16" name="Image 3" descr="/home/claude/deck_asset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651" y="3899459"/>
            <a:ext cx="211226" cy="21122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40880" y="3785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only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7040880" y="408736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uses $1/$2 placeholders, which node-postgres binds safely — this is what prevents SQL injection.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492240" y="4873752"/>
            <a:ext cx="384048" cy="384048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20" name="Image 4" descr="/home/claude/deck_asset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651" y="4960163"/>
            <a:ext cx="211226" cy="21122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40880" y="4846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 on writes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7040880" y="51480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State-changing routes call a shared logAction() helper that inserts into audit_logs after each change.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nsc_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5895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database/schema.sql exactly — six tables, seven foreign-key relationships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1202479" y="1417320"/>
            <a:ext cx="9786737" cy="5221224"/>
          </a:xfrm>
          <a:prstGeom prst="roundRect">
            <a:avLst>
              <a:gd name="adj" fmla="val 1401"/>
            </a:avLst>
          </a:prstGeom>
          <a:solidFill>
            <a:srgbClr val="F7F6F2"/>
          </a:solidFill>
          <a:ln w="12700">
            <a:solidFill>
              <a:srgbClr val="E4E0D6"/>
            </a:solidFill>
            <a:prstDash val="solid"/>
          </a:ln>
        </p:spPr>
      </p:sp>
      <p:pic>
        <p:nvPicPr>
          <p:cNvPr id="6" name="Image 1" descr="/home/claude/nsc-ict-system/docs/erd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31" y="1490472"/>
            <a:ext cx="9640433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nsc_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5895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column, constraint, and index lives in database/schema.sql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846320"/>
                <a:gridCol w="3840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Relationships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D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D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departments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1A"/>
                          </a:solidFill>
                        </a:rPr>
                        <a:t>Organizational departments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2"/>
                          </a:solidFill>
                        </a:rPr>
                        <a:t>Referenced by users, assets, service_requests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D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1A"/>
                          </a:solidFill>
                        </a:rPr>
                        <a:t>All accounts — 4 roles, bcrypt-hashed passwords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2"/>
                          </a:solidFill>
                        </a:rPr>
                        <a:t>FK to departments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D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1A"/>
                          </a:solidFill>
                        </a:rPr>
                        <a:t>ICT hardware inventory and current status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2"/>
                          </a:solidFill>
                        </a:rPr>
                        <a:t>FK to departments, users (assigned_to)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D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service_requests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1A"/>
                          </a:solidFill>
                        </a:rPr>
                        <a:t>Staff support tickets, end to end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2"/>
                          </a:solidFill>
                        </a:rPr>
                        <a:t>FK to users (requester + technician)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D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maintenance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1A"/>
                          </a:solidFill>
                        </a:rPr>
                        <a:t>Repair / service history per asset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2"/>
                          </a:solidFill>
                        </a:rPr>
                        <a:t>FK to assets, users (technician)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7D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audit_logs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1A"/>
                          </a:solidFill>
                        </a:rPr>
                        <a:t>Append-only log of significant actions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C6B62"/>
                          </a:solidFill>
                        </a:rPr>
                        <a:t>FK to users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nsc_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5895" y="320040"/>
            <a:ext cx="365760" cy="3657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7A594">
              <a:alpha val="1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Measures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the database and API layer — not just hidden buttons in the UI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4904A"/>
          </a:solidFill>
          <a:ln w="12700">
            <a:solidFill>
              <a:srgbClr val="1F5C3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8" name="Image 1" descr="/home/claude/deck_assets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051914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58775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292608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7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password is hashed with bcrypt before storage — plaintext is never saved or logged.</a:t>
            </a:r>
            <a:endParaRPr lang="en-US" sz="970" dirty="0"/>
          </a:p>
        </p:txBody>
      </p:sp>
      <p:sp>
        <p:nvSpPr>
          <p:cNvPr id="11" name="Shape 7"/>
          <p:cNvSpPr/>
          <p:nvPr/>
        </p:nvSpPr>
        <p:spPr>
          <a:xfrm>
            <a:off x="4233672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4904A"/>
          </a:solidFill>
          <a:ln w="12700">
            <a:solidFill>
              <a:srgbClr val="1F5C3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62272" y="1920240"/>
            <a:ext cx="548640" cy="54864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13" name="Image 2" descr="/home/claude/deck_assets/icon_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946" y="205191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34840" y="258775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434840" y="292608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7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expiring tokens carry the user’s role; the signing secret lives only in a local .env file.</a:t>
            </a:r>
            <a:endParaRPr lang="en-US" sz="970" dirty="0"/>
          </a:p>
        </p:txBody>
      </p:sp>
      <p:sp>
        <p:nvSpPr>
          <p:cNvPr id="16" name="Shape 11"/>
          <p:cNvSpPr/>
          <p:nvPr/>
        </p:nvSpPr>
        <p:spPr>
          <a:xfrm>
            <a:off x="7918704" y="16916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4904A"/>
          </a:solidFill>
          <a:ln w="12700">
            <a:solidFill>
              <a:srgbClr val="1F5C3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147304" y="1920240"/>
            <a:ext cx="548640" cy="54864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18" name="Image 3" descr="/home/claude/deck_assets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78" y="205191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19872" y="258775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119872" y="292608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7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SQL uses $1/$2 placeholders via node-postgres — user input is never concatenated into SQL.</a:t>
            </a:r>
            <a:endParaRPr lang="en-US" sz="970" dirty="0"/>
          </a:p>
        </p:txBody>
      </p:sp>
      <p:sp>
        <p:nvSpPr>
          <p:cNvPr id="21" name="Shape 15"/>
          <p:cNvSpPr/>
          <p:nvPr/>
        </p:nvSpPr>
        <p:spPr>
          <a:xfrm>
            <a:off x="548640" y="391363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4904A"/>
          </a:solidFill>
          <a:ln w="12700">
            <a:solidFill>
              <a:srgbClr val="1F5C3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7240" y="4142232"/>
            <a:ext cx="548640" cy="54864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23" name="Image 4" descr="/home/claude/deck_assets/icon_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4273906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9808" y="480974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Middleware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49808" y="5148072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7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and requireRole re-check permissions on the server for every restricted route.</a:t>
            </a:r>
            <a:endParaRPr lang="en-US" sz="970" dirty="0"/>
          </a:p>
        </p:txBody>
      </p:sp>
      <p:sp>
        <p:nvSpPr>
          <p:cNvPr id="26" name="Shape 19"/>
          <p:cNvSpPr/>
          <p:nvPr/>
        </p:nvSpPr>
        <p:spPr>
          <a:xfrm>
            <a:off x="4233672" y="391363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4904A"/>
          </a:solidFill>
          <a:ln w="12700">
            <a:solidFill>
              <a:srgbClr val="1F5C3C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462272" y="4142232"/>
            <a:ext cx="548640" cy="54864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28" name="Image 5" descr="/home/claude/deck_assets/icon_filetex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3946" y="4273906"/>
            <a:ext cx="285293" cy="28529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434840" y="480974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434840" y="5148072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7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Logins, creates, edits, assignments, and status changes are all written to audit_logs.</a:t>
            </a:r>
            <a:endParaRPr lang="en-US" sz="970" dirty="0"/>
          </a:p>
        </p:txBody>
      </p:sp>
      <p:sp>
        <p:nvSpPr>
          <p:cNvPr id="31" name="Shape 23"/>
          <p:cNvSpPr/>
          <p:nvPr/>
        </p:nvSpPr>
        <p:spPr>
          <a:xfrm>
            <a:off x="7918704" y="3913632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14904A"/>
          </a:solidFill>
          <a:ln w="12700">
            <a:solidFill>
              <a:srgbClr val="1F5C3C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147304" y="4142232"/>
            <a:ext cx="548640" cy="54864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33" name="Image 6" descr="/home/claude/deck_assets/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8978" y="4273906"/>
            <a:ext cx="285293" cy="28529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119872" y="4809744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Deactivation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8119872" y="5148072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7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Deactivated accounts are blocked at login — even with the correct password.</a:t>
            </a:r>
            <a:endParaRPr lang="en-US" sz="9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demo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0"/>
            <a:ext cx="10972800" cy="6858000"/>
          </a:xfrm>
          <a:prstGeom prst="rect">
            <a:avLst/>
          </a:prstGeom>
        </p:spPr>
      </p:pic>
      <p:sp>
        <p:nvSpPr>
          <p:cNvPr id="3" name="Shape 0">
            <a:hlinkClick r:id="rId2" tooltip="" action="ppaction://hlinksldjump"/>
          </p:cNvPr>
          <p:cNvSpPr/>
          <p:nvPr/>
        </p:nvSpPr>
        <p:spPr>
          <a:xfrm>
            <a:off x="8688629" y="4101084"/>
            <a:ext cx="1110996" cy="3429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09905" y="6455664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063D1F"/>
          </a:solidFill>
          <a:ln w="12700">
            <a:solidFill>
              <a:srgbClr val="17A59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6574536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932688" y="6455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E0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— click "Log In"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demo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0"/>
            <a:ext cx="10972800" cy="6858000"/>
          </a:xfrm>
          <a:prstGeom prst="rect">
            <a:avLst/>
          </a:prstGeom>
        </p:spPr>
      </p:pic>
      <p:sp>
        <p:nvSpPr>
          <p:cNvPr id="3" name="Shape 0">
            <a:hlinkClick r:id="rId2" tooltip="" action="ppaction://hlinksldjump"/>
          </p:cNvPr>
          <p:cNvSpPr/>
          <p:nvPr/>
        </p:nvSpPr>
        <p:spPr>
          <a:xfrm>
            <a:off x="609905" y="1001268"/>
            <a:ext cx="1700784" cy="2468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Shape 1">
            <a:hlinkClick r:id="rId3" tooltip="" action="ppaction://hlinksldjump"/>
          </p:cNvPr>
          <p:cNvSpPr/>
          <p:nvPr/>
        </p:nvSpPr>
        <p:spPr>
          <a:xfrm>
            <a:off x="609905" y="1282903"/>
            <a:ext cx="1700784" cy="2468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>
            <a:hlinkClick r:id="rId4" tooltip="" action="ppaction://hlinksldjump"/>
          </p:cNvPr>
          <p:cNvSpPr/>
          <p:nvPr/>
        </p:nvSpPr>
        <p:spPr>
          <a:xfrm>
            <a:off x="609905" y="2969971"/>
            <a:ext cx="1700784" cy="2468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3">
            <a:hlinkClick r:id="rId5" tooltip="" action="ppaction://hlinksldjump"/>
          </p:cNvPr>
          <p:cNvSpPr/>
          <p:nvPr/>
        </p:nvSpPr>
        <p:spPr>
          <a:xfrm>
            <a:off x="10794492" y="123444"/>
            <a:ext cx="514807" cy="21945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09905" y="6455664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063D1F"/>
          </a:solidFill>
          <a:ln w="12700">
            <a:solidFill>
              <a:srgbClr val="17A59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6574536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6455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E0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— click a sidebar link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demo_as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0"/>
            <a:ext cx="10972800" cy="6858000"/>
          </a:xfrm>
          <a:prstGeom prst="rect">
            <a:avLst/>
          </a:prstGeom>
        </p:spPr>
      </p:pic>
      <p:sp>
        <p:nvSpPr>
          <p:cNvPr id="3" name="Shape 0">
            <a:hlinkClick r:id="rId2" tooltip="" action="ppaction://hlinksldjump"/>
          </p:cNvPr>
          <p:cNvSpPr/>
          <p:nvPr/>
        </p:nvSpPr>
        <p:spPr>
          <a:xfrm>
            <a:off x="609905" y="720547"/>
            <a:ext cx="1700784" cy="2468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Shape 1">
            <a:hlinkClick r:id="rId3" tooltip="" action="ppaction://hlinksldjump"/>
          </p:cNvPr>
          <p:cNvSpPr/>
          <p:nvPr/>
        </p:nvSpPr>
        <p:spPr>
          <a:xfrm>
            <a:off x="609905" y="1282903"/>
            <a:ext cx="1700784" cy="2468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>
            <a:hlinkClick r:id="rId4" tooltip="" action="ppaction://hlinksldjump"/>
          </p:cNvPr>
          <p:cNvSpPr/>
          <p:nvPr/>
        </p:nvSpPr>
        <p:spPr>
          <a:xfrm>
            <a:off x="609905" y="2969971"/>
            <a:ext cx="1700784" cy="2468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3">
            <a:hlinkClick r:id="rId5" tooltip="" action="ppaction://hlinksldjump"/>
          </p:cNvPr>
          <p:cNvSpPr/>
          <p:nvPr/>
        </p:nvSpPr>
        <p:spPr>
          <a:xfrm>
            <a:off x="10794492" y="123444"/>
            <a:ext cx="514807" cy="21945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Shape 4">
            <a:hlinkClick r:id="rId6" tooltip="" action="ppaction://hlinksldjump"/>
          </p:cNvPr>
          <p:cNvSpPr/>
          <p:nvPr/>
        </p:nvSpPr>
        <p:spPr>
          <a:xfrm>
            <a:off x="10348265" y="740664"/>
            <a:ext cx="96012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09905" y="6455664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063D1F"/>
          </a:solidFill>
          <a:ln w="12700">
            <a:solidFill>
              <a:srgbClr val="17A59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6574536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/>
          <p:nvPr/>
        </p:nvSpPr>
        <p:spPr>
          <a:xfrm>
            <a:off x="932688" y="6455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E0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— try "+ Add Asset"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demo_assets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0"/>
            <a:ext cx="10972800" cy="6858000"/>
          </a:xfrm>
          <a:prstGeom prst="rect">
            <a:avLst/>
          </a:prstGeom>
        </p:spPr>
      </p:pic>
      <p:sp>
        <p:nvSpPr>
          <p:cNvPr id="3" name="Shape 0">
            <a:hlinkClick r:id="rId2" tooltip="" action="ppaction://hlinksldjump"/>
          </p:cNvPr>
          <p:cNvSpPr/>
          <p:nvPr/>
        </p:nvSpPr>
        <p:spPr>
          <a:xfrm>
            <a:off x="7845552" y="466344"/>
            <a:ext cx="288036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09905" y="6455664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063D1F"/>
          </a:solidFill>
          <a:ln w="12700">
            <a:solidFill>
              <a:srgbClr val="17A59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6574536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932688" y="6455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E0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— click × to go back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demo_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0"/>
            <a:ext cx="10972800" cy="6858000"/>
          </a:xfrm>
          <a:prstGeom prst="rect">
            <a:avLst/>
          </a:prstGeom>
        </p:spPr>
      </p:pic>
      <p:sp>
        <p:nvSpPr>
          <p:cNvPr id="3" name="Shape 0">
            <a:hlinkClick r:id="rId2" tooltip="" action="ppaction://hlinksldjump"/>
          </p:cNvPr>
          <p:cNvSpPr/>
          <p:nvPr/>
        </p:nvSpPr>
        <p:spPr>
          <a:xfrm>
            <a:off x="609905" y="720547"/>
            <a:ext cx="1700784" cy="2468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Shape 1">
            <a:hlinkClick r:id="rId3" tooltip="" action="ppaction://hlinksldjump"/>
          </p:cNvPr>
          <p:cNvSpPr/>
          <p:nvPr/>
        </p:nvSpPr>
        <p:spPr>
          <a:xfrm>
            <a:off x="609905" y="1001268"/>
            <a:ext cx="1700784" cy="2468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>
            <a:hlinkClick r:id="rId4" tooltip="" action="ppaction://hlinksldjump"/>
          </p:cNvPr>
          <p:cNvSpPr/>
          <p:nvPr/>
        </p:nvSpPr>
        <p:spPr>
          <a:xfrm>
            <a:off x="609905" y="2969971"/>
            <a:ext cx="1700784" cy="2468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3">
            <a:hlinkClick r:id="rId5" tooltip="" action="ppaction://hlinksldjump"/>
          </p:cNvPr>
          <p:cNvSpPr/>
          <p:nvPr/>
        </p:nvSpPr>
        <p:spPr>
          <a:xfrm>
            <a:off x="10794492" y="123444"/>
            <a:ext cx="514807" cy="21945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09905" y="6455664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063D1F"/>
          </a:solidFill>
          <a:ln w="12700">
            <a:solidFill>
              <a:srgbClr val="17A59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6574536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6455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E0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— click a sidebar link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demo_ab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0"/>
            <a:ext cx="10972800" cy="6858000"/>
          </a:xfrm>
          <a:prstGeom prst="rect">
            <a:avLst/>
          </a:prstGeom>
        </p:spPr>
      </p:pic>
      <p:sp>
        <p:nvSpPr>
          <p:cNvPr id="3" name="Shape 0">
            <a:hlinkClick r:id="rId2" tooltip="" action="ppaction://hlinksldjump"/>
          </p:cNvPr>
          <p:cNvSpPr/>
          <p:nvPr/>
        </p:nvSpPr>
        <p:spPr>
          <a:xfrm>
            <a:off x="609905" y="720547"/>
            <a:ext cx="1700784" cy="2468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Shape 1">
            <a:hlinkClick r:id="rId3" tooltip="" action="ppaction://hlinksldjump"/>
          </p:cNvPr>
          <p:cNvSpPr/>
          <p:nvPr/>
        </p:nvSpPr>
        <p:spPr>
          <a:xfrm>
            <a:off x="609905" y="1001268"/>
            <a:ext cx="1700784" cy="2468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Shape 2">
            <a:hlinkClick r:id="rId4" tooltip="" action="ppaction://hlinksldjump"/>
          </p:cNvPr>
          <p:cNvSpPr/>
          <p:nvPr/>
        </p:nvSpPr>
        <p:spPr>
          <a:xfrm>
            <a:off x="609905" y="1282903"/>
            <a:ext cx="1700784" cy="2468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Shape 3">
            <a:hlinkClick r:id="rId5" tooltip="" action="ppaction://hlinksldjump"/>
          </p:cNvPr>
          <p:cNvSpPr/>
          <p:nvPr/>
        </p:nvSpPr>
        <p:spPr>
          <a:xfrm>
            <a:off x="10794492" y="123444"/>
            <a:ext cx="514807" cy="21945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09905" y="6455664"/>
            <a:ext cx="3246120" cy="310896"/>
          </a:xfrm>
          <a:prstGeom prst="roundRect">
            <a:avLst>
              <a:gd name="adj" fmla="val 50000"/>
            </a:avLst>
          </a:prstGeom>
          <a:solidFill>
            <a:srgbClr val="063D1F"/>
          </a:solidFill>
          <a:ln w="12700">
            <a:solidFill>
              <a:srgbClr val="17A59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6574536"/>
            <a:ext cx="73152" cy="7315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932688" y="64556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E0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— click a sidebar link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nsc_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5895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Verification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749040" cy="4206240"/>
          </a:xfrm>
          <a:prstGeom prst="roundRect">
            <a:avLst>
              <a:gd name="adj" fmla="val 2927"/>
            </a:avLst>
          </a:prstGeom>
          <a:solidFill>
            <a:srgbClr val="0A7D3E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331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70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685800" y="3246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D6ED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AUTOMATED INTEGRATION TESTS PASSING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42062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the real, unmodified backend source — over real HTTP requests.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1772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98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WAS COVERED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17720" y="1828800"/>
            <a:ext cx="365760" cy="36576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10" name="Image 1" descr="/home/claude/deck_asset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191109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181051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— login, registration, deactivated-account lockout, invalid credentials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17720" y="2432304"/>
            <a:ext cx="365760" cy="36576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13" name="Image 2" descr="/home/claude/deck_asset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251460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20640" y="241401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 — every restricted endpoint checked for every role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617720" y="3035808"/>
            <a:ext cx="365760" cy="36576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16" name="Image 3" descr="/home/claude/deck_assets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3118104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20640" y="301752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asset lifecycle — create, search, filter, edit, assign, status change, delete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617720" y="3639312"/>
            <a:ext cx="365760" cy="36576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19" name="Image 4" descr="/home/claude/deck_assets/icon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3721608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20640" y="362102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 workflow — submission through assignment to resolution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4617720" y="4242816"/>
            <a:ext cx="365760" cy="36576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22" name="Image 5" descr="/home/claude/deck_assets/icon_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16" y="4325112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20640" y="42245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records — creation, status transitions, asset status sync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4617720" y="4846320"/>
            <a:ext cx="365760" cy="365760"/>
          </a:xfrm>
          <a:prstGeom prst="ellipse">
            <a:avLst/>
          </a:prstGeom>
          <a:solidFill>
            <a:srgbClr val="17A594"/>
          </a:solidFill>
          <a:ln/>
        </p:spPr>
      </p:sp>
      <p:pic>
        <p:nvPicPr>
          <p:cNvPr id="25" name="Image 6" descr="/home/claude/deck_assets/icon_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4928616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120640" y="48280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&amp; department management, audit logging, and report/CSV export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_assets/nsc_log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5895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7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2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models the ICT department’s core operations — assets, staff, requests, maintenance, and an audit trail — in a normalized, referentially-sound schema. Every dashboard statistic is computed live, and the frontend-to-database integration was verified end to end through parameterized queries and role-checked middleware.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30936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982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09360" y="1627632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149961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SSL and tuned connection pooling before production use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2249424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12140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scheduled backups (pg_dump) once real data is in use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2871216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6537960" y="2743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refresh tokens and login rate-limiting to the auth layer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3493008"/>
            <a:ext cx="82296" cy="822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33649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lookup tables if enumerated fields need to grow dynamically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E4E0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937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48640" y="5440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C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TABLES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91840" y="4937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3291840" y="5440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C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TIERS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35040" y="4937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70/70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035040" y="5440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C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PASSING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778240" y="4937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778240" y="5440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C6B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SECTIONS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in DATABASE_DOCUMENTATION_REPORT.docx — 22 sections including SQL, testing, and security.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17A594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F5A623">
              <a:alpha val="10000"/>
            </a:srgbClr>
          </a:solidFill>
          <a:ln/>
        </p:spPr>
      </p:sp>
      <p:pic>
        <p:nvPicPr>
          <p:cNvPr id="4" name="Image 0" descr="/home/claude/deck_assets/nsc_logo_ou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8608" y="46177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24028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END OF TRANSMISSION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0" y="26517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the system, the schema, or the connectivity are welcome.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2026-08-15T21:54:38Z</dcterms:created>
  <dcterms:modified xsi:type="dcterms:W3CDTF">2026-08-15T21:54:38Z</dcterms:modified>
</cp:coreProperties>
</file>